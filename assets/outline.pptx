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B960A-BD29-0225-BA52-0E5753087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C87647-6EE0-4896-5EC4-EF46295EA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9D12A-9E1B-FB29-53E9-BE590550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24EC5-B04F-A8D4-0F36-852E5D16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14B7E-F351-B8EB-6D88-A7E66B04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6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220C5-78D3-AE31-CDE2-20DB36DB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B0C4B-897E-AE3D-6754-0FDA9A051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2FC3F-AB8B-2D9C-340B-72B54423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C8029-AA72-0BB9-1648-644095A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E4E3D-380C-431C-47B8-D4D013F8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97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DEFE2-F695-7FF1-69D4-39EBC62E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E86B9D-210A-E639-AF35-AD484100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854C3-E8DE-6EE9-0C25-AD271E24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D807B-9D24-F76F-0B50-D3421412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7AD79-B0F0-D16C-D481-CEFA5215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6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6A4C4-669F-8CDF-381B-B2D2A9B1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ED1F0-0967-9654-CD78-6D1E005BC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EB897A-D416-1C02-CBCA-BCC7C5243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A66142-C7AF-AFC0-1080-386A3E0F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8442E3-07A8-6661-C9C8-85F01FE4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7A06BC-20D1-8295-87F7-F5EDA28B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95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CE8B1-1F96-FA45-3A6F-274AF464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D4460B-5A05-8BCC-0BC8-01587D34C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27D6DC-BD5F-9123-7438-300E532A9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B390D8-FAF8-1BF4-CE57-9D4F328A9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EB15A0-A2AF-2963-8D2E-6B7DD5032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C0B7E6-BB8E-F023-E694-330D010D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990DBB-9DFC-D17C-E57B-508D0103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7CA8F0-B868-B297-35B6-409E600D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15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39E55-5550-7685-C0CD-3229532C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03D162-4457-41E5-F749-1E67CD36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279BB-F854-EC0D-F62C-2979D4A4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9FB913-6A3E-1019-3F02-D25EFEF0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5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760ED5-24A9-EBBA-1054-9D4423D6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3CFECD-585F-B1BD-A77C-A9028B03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2B3B24-B023-0928-3635-4057EBF0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74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CEDC9-E000-95A2-CB33-D44BC8BF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A520E-9BEE-4E38-7933-1F034EF13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D3CA46-37CA-0BA0-BCCF-1F62A500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676119-09A7-DE54-704E-F882B4DF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6B0657-AEC8-EB3C-466B-50890C72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4D3628-9E0E-9FFC-23B8-CAC4E0B8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51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D7DD0-D2B0-7982-358E-D63089E9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95483E-96AD-8A11-8C81-89ED69C14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26F074-4EE8-769A-1345-915C99BE5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5705A0-04C6-4349-213E-4E0D47AE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7B281-5059-D88E-FECA-E7318AC9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2F0AD4-BA83-F8F7-B300-3EF6E2A0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2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F26A8-E194-9C28-0988-2D9FE98C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E3C42B-5707-1022-FC50-0A0C16F17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B8D40-2FCA-1919-B84A-F137C676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562D0-647D-C8FE-D1D3-880FF676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7E67C-0F82-F8B2-A1E0-8A53DC56A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5F3544-8D2B-9220-F11F-295119CF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7C6E97-5FA2-B509-CCFB-AE693C63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72AE1-6883-9889-50C2-B3ACAB12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7E422-38AA-DCBA-EF6D-E2D754B4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658121-8466-180E-3A41-208D912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22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1B8DFE-E6B8-2A54-9068-8B2B21BD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BFE48D-B5A7-EDCA-3D19-8632C39BF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8DFB8C-B828-9547-2ABB-20764945D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3E8C7-89C7-BDCB-E19F-6FFDE7C6B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CF343-873D-E21B-A253-66E41FF9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55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BD04C9-CBC1-F090-23CC-868D8B5FD0C5}"/>
              </a:ext>
            </a:extLst>
          </p:cNvPr>
          <p:cNvSpPr/>
          <p:nvPr/>
        </p:nvSpPr>
        <p:spPr>
          <a:xfrm>
            <a:off x="645995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339BF-290E-BCC2-B4EA-FC06CCC5D329}"/>
              </a:ext>
            </a:extLst>
          </p:cNvPr>
          <p:cNvSpPr/>
          <p:nvPr/>
        </p:nvSpPr>
        <p:spPr>
          <a:xfrm>
            <a:off x="3458191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31878-7BA9-EFFE-8680-5149DAE9B692}"/>
              </a:ext>
            </a:extLst>
          </p:cNvPr>
          <p:cNvSpPr/>
          <p:nvPr/>
        </p:nvSpPr>
        <p:spPr>
          <a:xfrm>
            <a:off x="9082584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A92950-5C40-280F-F19D-AD6D58AC339A}"/>
              </a:ext>
            </a:extLst>
          </p:cNvPr>
          <p:cNvSpPr/>
          <p:nvPr/>
        </p:nvSpPr>
        <p:spPr>
          <a:xfrm>
            <a:off x="6270387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0B1B6A-F7CD-B167-83D1-312934E8F475}"/>
              </a:ext>
            </a:extLst>
          </p:cNvPr>
          <p:cNvSpPr/>
          <p:nvPr/>
        </p:nvSpPr>
        <p:spPr>
          <a:xfrm>
            <a:off x="3458191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产品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7E653B-0517-8EA0-E2C1-BE430F5D6793}"/>
              </a:ext>
            </a:extLst>
          </p:cNvPr>
          <p:cNvSpPr/>
          <p:nvPr/>
        </p:nvSpPr>
        <p:spPr>
          <a:xfrm>
            <a:off x="6270386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开发者生态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9F68F-86AE-6391-0CEB-4C312032DCC6}"/>
              </a:ext>
            </a:extLst>
          </p:cNvPr>
          <p:cNvSpPr/>
          <p:nvPr/>
        </p:nvSpPr>
        <p:spPr>
          <a:xfrm>
            <a:off x="9082584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关于我们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08148-0E2C-4A33-9709-E080B53C656F}"/>
              </a:ext>
            </a:extLst>
          </p:cNvPr>
          <p:cNvSpPr/>
          <p:nvPr/>
        </p:nvSpPr>
        <p:spPr>
          <a:xfrm>
            <a:off x="645993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首页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B5B94A-0874-3F9D-3FF6-046B242DFE05}"/>
              </a:ext>
            </a:extLst>
          </p:cNvPr>
          <p:cNvSpPr txBox="1"/>
          <p:nvPr/>
        </p:nvSpPr>
        <p:spPr>
          <a:xfrm>
            <a:off x="5542002" y="2042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官网内容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2A03AA-26CA-CE77-C366-B4F0600D0839}"/>
              </a:ext>
            </a:extLst>
          </p:cNvPr>
          <p:cNvSpPr txBox="1"/>
          <p:nvPr/>
        </p:nvSpPr>
        <p:spPr>
          <a:xfrm>
            <a:off x="645993" y="2422057"/>
            <a:ext cx="24383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封面图（入口）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我们提供的服务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为什么选我们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产品开发者中心入口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8ECA58-F0F8-CE00-77E1-54CAFBDAA561}"/>
              </a:ext>
            </a:extLst>
          </p:cNvPr>
          <p:cNvSpPr txBox="1"/>
          <p:nvPr/>
        </p:nvSpPr>
        <p:spPr>
          <a:xfrm>
            <a:off x="3458188" y="2422057"/>
            <a:ext cx="243839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大规模数据集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工具链</a:t>
            </a:r>
            <a:r>
              <a:rPr lang="zh-CN" altLang="en-US" sz="1200"/>
              <a:t>（一体机弹性算力）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数采设备</a:t>
            </a:r>
            <a:endParaRPr lang="en-US" altLang="zh-CN"/>
          </a:p>
          <a:p>
            <a:endParaRPr lang="en-US" altLang="zh-CN"/>
          </a:p>
          <a:p>
            <a:r>
              <a:rPr lang="zh-CN" altLang="en-US" sz="1400"/>
              <a:t>数据集与数采设备兼容生态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FE683-68A0-3EA9-0F99-192FC14C0AC5}"/>
              </a:ext>
            </a:extLst>
          </p:cNvPr>
          <p:cNvSpPr txBox="1"/>
          <p:nvPr/>
        </p:nvSpPr>
        <p:spPr>
          <a:xfrm>
            <a:off x="6270380" y="2422057"/>
            <a:ext cx="24383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一站式开发者平台</a:t>
            </a:r>
            <a:endParaRPr lang="en-US" altLang="zh-CN"/>
          </a:p>
          <a:p>
            <a:endParaRPr lang="en-US" altLang="zh-CN" sz="1400"/>
          </a:p>
          <a:p>
            <a:r>
              <a:rPr lang="zh-CN" altLang="en-US"/>
              <a:t>开源数据集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99D608-880B-3ED2-F9DD-6A8934FA9646}"/>
              </a:ext>
            </a:extLst>
          </p:cNvPr>
          <p:cNvSpPr txBox="1"/>
          <p:nvPr/>
        </p:nvSpPr>
        <p:spPr>
          <a:xfrm>
            <a:off x="9082585" y="2422057"/>
            <a:ext cx="24383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关于我们</a:t>
            </a:r>
            <a:endParaRPr lang="en-US" altLang="zh-CN"/>
          </a:p>
          <a:p>
            <a:endParaRPr lang="en-US" altLang="zh-CN" sz="1400"/>
          </a:p>
          <a:p>
            <a:r>
              <a:rPr lang="zh-CN" altLang="en-US"/>
              <a:t>招聘启事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联系我们</a:t>
            </a:r>
          </a:p>
        </p:txBody>
      </p:sp>
    </p:spTree>
    <p:extLst>
      <p:ext uri="{BB962C8B-B14F-4D97-AF65-F5344CB8AC3E}">
        <p14:creationId xmlns:p14="http://schemas.microsoft.com/office/powerpoint/2010/main" val="51111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5603-1ACD-7384-DC63-F5674FD3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6254B3-846D-CD93-C4A5-DFB7298BAC33}"/>
              </a:ext>
            </a:extLst>
          </p:cNvPr>
          <p:cNvSpPr/>
          <p:nvPr/>
        </p:nvSpPr>
        <p:spPr>
          <a:xfrm>
            <a:off x="3458191" y="1105468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</a:rPr>
              <a:t>基础设施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39AC54-2C15-2AB1-566C-DDE669B0425A}"/>
              </a:ext>
            </a:extLst>
          </p:cNvPr>
          <p:cNvSpPr/>
          <p:nvPr/>
        </p:nvSpPr>
        <p:spPr>
          <a:xfrm>
            <a:off x="6270386" y="1105468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数据集供应商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3E58C-01DF-E9CF-5A8E-E775C6087D29}"/>
              </a:ext>
            </a:extLst>
          </p:cNvPr>
          <p:cNvSpPr/>
          <p:nvPr/>
        </p:nvSpPr>
        <p:spPr>
          <a:xfrm>
            <a:off x="9082584" y="1105468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开发者生态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7AD9D6-59B3-E031-FA2D-B864B7AB6E92}"/>
              </a:ext>
            </a:extLst>
          </p:cNvPr>
          <p:cNvSpPr/>
          <p:nvPr/>
        </p:nvSpPr>
        <p:spPr>
          <a:xfrm>
            <a:off x="645993" y="1105468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数据采集厂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A5CC3B-C75A-0ABD-C64D-AC0524F45F54}"/>
              </a:ext>
            </a:extLst>
          </p:cNvPr>
          <p:cNvSpPr txBox="1"/>
          <p:nvPr/>
        </p:nvSpPr>
        <p:spPr>
          <a:xfrm>
            <a:off x="5542002" y="2042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首图</a:t>
            </a:r>
          </a:p>
        </p:txBody>
      </p:sp>
    </p:spTree>
    <p:extLst>
      <p:ext uri="{BB962C8B-B14F-4D97-AF65-F5344CB8AC3E}">
        <p14:creationId xmlns:p14="http://schemas.microsoft.com/office/powerpoint/2010/main" val="111787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DEE1-3F62-58FA-47B2-E0C45F14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D609646F-06F4-2489-F2AD-5D9A81087DF8}"/>
              </a:ext>
            </a:extLst>
          </p:cNvPr>
          <p:cNvSpPr txBox="1"/>
          <p:nvPr/>
        </p:nvSpPr>
        <p:spPr>
          <a:xfrm>
            <a:off x="5542002" y="20429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数据资源需求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0D11E0C-BFA6-9B2E-9BCD-AC9C2938A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247874"/>
              </p:ext>
            </p:extLst>
          </p:nvPr>
        </p:nvGraphicFramePr>
        <p:xfrm>
          <a:off x="369283" y="1287780"/>
          <a:ext cx="1145085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475">
                  <a:extLst>
                    <a:ext uri="{9D8B030D-6E8A-4147-A177-3AD203B41FA5}">
                      <a16:colId xmlns:a16="http://schemas.microsoft.com/office/drawing/2014/main" val="2547061485"/>
                    </a:ext>
                  </a:extLst>
                </a:gridCol>
                <a:gridCol w="1466447">
                  <a:extLst>
                    <a:ext uri="{9D8B030D-6E8A-4147-A177-3AD203B41FA5}">
                      <a16:colId xmlns:a16="http://schemas.microsoft.com/office/drawing/2014/main" val="2511013265"/>
                    </a:ext>
                  </a:extLst>
                </a:gridCol>
                <a:gridCol w="1780295">
                  <a:extLst>
                    <a:ext uri="{9D8B030D-6E8A-4147-A177-3AD203B41FA5}">
                      <a16:colId xmlns:a16="http://schemas.microsoft.com/office/drawing/2014/main" val="184121946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975737003"/>
                    </a:ext>
                  </a:extLst>
                </a:gridCol>
                <a:gridCol w="1329431">
                  <a:extLst>
                    <a:ext uri="{9D8B030D-6E8A-4147-A177-3AD203B41FA5}">
                      <a16:colId xmlns:a16="http://schemas.microsoft.com/office/drawing/2014/main" val="4253163370"/>
                    </a:ext>
                  </a:extLst>
                </a:gridCol>
                <a:gridCol w="2775453">
                  <a:extLst>
                    <a:ext uri="{9D8B030D-6E8A-4147-A177-3AD203B41FA5}">
                      <a16:colId xmlns:a16="http://schemas.microsoft.com/office/drawing/2014/main" val="162314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时间预估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/>
                        <a:t>存储空间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CPU</a:t>
                      </a:r>
                      <a:r>
                        <a:rPr lang="zh-CN" altLang="en-US"/>
                        <a:t>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</a:t>
                      </a:r>
                      <a:r>
                        <a:rPr lang="en-US" altLang="zh-CN"/>
                        <a:t>/Rollout GPU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带宽资源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32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r>
                        <a:rPr lang="en-US" altLang="zh-CN"/>
                        <a:t>9</a:t>
                      </a:r>
                      <a:r>
                        <a:rPr lang="zh-CN" altLang="en-US"/>
                        <a:t>月第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/>
                        <a:t>200~400TB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64</a:t>
                      </a:r>
                      <a:r>
                        <a:rPr lang="zh-CN" altLang="en-US"/>
                        <a:t>核</a:t>
                      </a:r>
                      <a:r>
                        <a:rPr lang="en-US" altLang="zh-CN"/>
                        <a:t>*1</a:t>
                      </a:r>
                      <a:r>
                        <a:rPr lang="zh-CN" altLang="en-US"/>
                        <a:t>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4*A100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 Gbps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r>
                        <a:rPr lang="zh-CN" altLang="en-US"/>
                        <a:t>万小时（入门级）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967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r>
                        <a:rPr lang="en-US" altLang="zh-CN"/>
                        <a:t>12</a:t>
                      </a:r>
                      <a:r>
                        <a:rPr lang="zh-CN" altLang="en-US"/>
                        <a:t>月底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/>
                        <a:t>1~3PB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256</a:t>
                      </a:r>
                      <a:r>
                        <a:rPr lang="zh-CN" altLang="en-US"/>
                        <a:t>核</a:t>
                      </a:r>
                      <a:r>
                        <a:rPr lang="en-US" altLang="zh-CN"/>
                        <a:t>*4</a:t>
                      </a:r>
                      <a:r>
                        <a:rPr lang="zh-CN" altLang="en-US"/>
                        <a:t>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16*A100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 Gbps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万小时（企业级）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101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r>
                        <a:rPr lang="en-US" altLang="zh-CN"/>
                        <a:t>6</a:t>
                      </a:r>
                      <a:r>
                        <a:rPr lang="zh-CN" altLang="en-US"/>
                        <a:t>月底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/>
                        <a:t>5~15PB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256</a:t>
                      </a:r>
                      <a:r>
                        <a:rPr lang="zh-CN" altLang="en-US"/>
                        <a:t>核</a:t>
                      </a:r>
                      <a:r>
                        <a:rPr lang="en-US" altLang="zh-CN"/>
                        <a:t>*32</a:t>
                      </a:r>
                      <a:r>
                        <a:rPr lang="zh-CN" altLang="en-US"/>
                        <a:t>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64*H100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 Gbps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50</a:t>
                      </a:r>
                      <a:r>
                        <a:rPr lang="zh-CN" altLang="en-US"/>
                        <a:t>万小时（行业基础设施）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57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r>
                        <a:rPr lang="en-US" altLang="zh-CN"/>
                        <a:t>12</a:t>
                      </a:r>
                      <a:r>
                        <a:rPr lang="zh-CN" altLang="en-US"/>
                        <a:t>月底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/>
                        <a:t>10~50PB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256</a:t>
                      </a:r>
                      <a:r>
                        <a:rPr lang="zh-CN" altLang="en-US"/>
                        <a:t>核</a:t>
                      </a:r>
                      <a:r>
                        <a:rPr lang="en-US" altLang="zh-CN"/>
                        <a:t>*128</a:t>
                      </a:r>
                      <a:r>
                        <a:rPr lang="zh-CN" altLang="en-US"/>
                        <a:t>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256*H100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80 Gbps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100</a:t>
                      </a:r>
                      <a:r>
                        <a:rPr lang="zh-CN" altLang="en-US"/>
                        <a:t>万小时（国家级）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323208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43792CF-FCAC-524B-D2AB-366D8F4B353F}"/>
              </a:ext>
            </a:extLst>
          </p:cNvPr>
          <p:cNvSpPr txBox="1"/>
          <p:nvPr/>
        </p:nvSpPr>
        <p:spPr>
          <a:xfrm>
            <a:off x="307547" y="3346689"/>
            <a:ext cx="10190610" cy="1296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b="1"/>
              <a:t>测算：</a:t>
            </a:r>
            <a:r>
              <a:rPr lang="en-US" altLang="zh-CN"/>
              <a:t>1</a:t>
            </a:r>
            <a:r>
              <a:rPr lang="zh-CN" altLang="en-US"/>
              <a:t>万小时</a:t>
            </a:r>
            <a:r>
              <a:rPr lang="en-US" altLang="zh-CN"/>
              <a:t>100~300TB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万小时</a:t>
            </a:r>
            <a:r>
              <a:rPr lang="en-US" altLang="zh-CN"/>
              <a:t>50~250</a:t>
            </a:r>
            <a:r>
              <a:rPr lang="zh-CN" altLang="en-US"/>
              <a:t>万条数据，全球开源真机数据约有</a:t>
            </a:r>
            <a:r>
              <a:rPr lang="en-US" altLang="zh-CN"/>
              <a:t>7,500 </a:t>
            </a:r>
            <a:r>
              <a:rPr lang="zh-CN" altLang="en-US"/>
              <a:t>小时 ≈ </a:t>
            </a:r>
            <a:r>
              <a:rPr lang="en-US" altLang="zh-CN"/>
              <a:t>170 TB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b="1"/>
              <a:t>CPU</a:t>
            </a:r>
            <a:r>
              <a:rPr lang="zh-CN" altLang="en-US" b="1"/>
              <a:t>资源：</a:t>
            </a:r>
            <a:r>
              <a:rPr lang="zh-CN" altLang="en-US"/>
              <a:t>用于预处理、分发和测试</a:t>
            </a:r>
            <a:r>
              <a:rPr lang="en-US" altLang="zh-CN"/>
              <a:t>Dataloader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b="1"/>
              <a:t>GPU</a:t>
            </a:r>
            <a:r>
              <a:rPr lang="zh-CN" altLang="en-US" b="1"/>
              <a:t>资源：</a:t>
            </a:r>
            <a:r>
              <a:rPr lang="zh-CN" altLang="en-US"/>
              <a:t>用于基础</a:t>
            </a:r>
            <a:r>
              <a:rPr lang="en-US" altLang="zh-CN"/>
              <a:t>Rollout</a:t>
            </a:r>
            <a:r>
              <a:rPr lang="zh-CN" altLang="en-US"/>
              <a:t>测试，如需支撑训练需</a:t>
            </a:r>
            <a:r>
              <a:rPr lang="en-US" altLang="zh-CN"/>
              <a:t>*12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229</Words>
  <Application>Microsoft Office PowerPoint</Application>
  <PresentationFormat>宽屏</PresentationFormat>
  <Paragraphs>66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box jod</dc:creator>
  <cp:lastModifiedBy>box jod</cp:lastModifiedBy>
  <cp:revision>7</cp:revision>
  <dcterms:created xsi:type="dcterms:W3CDTF">2026-05-18T05:01:02Z</dcterms:created>
  <dcterms:modified xsi:type="dcterms:W3CDTF">2026-05-18T09:16:07Z</dcterms:modified>
</cp:coreProperties>
</file>